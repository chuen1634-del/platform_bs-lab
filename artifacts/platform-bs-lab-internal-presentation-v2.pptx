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cf868b2fb14b3a" /><Relationship Type="http://schemas.openxmlformats.org/officeDocument/2006/relationships/extended-properties" Target="/docProps/app.xml" Id="Re3f2c351e8e745ef" /><Relationship Type="http://schemas.openxmlformats.org/officeDocument/2006/relationships/officeDocument" Target="/ppt/presentation.xml" Id="R64536bfe24f246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83ccd94b5141c6"/>
  </p:sldMasterIdLst>
  <p:notesMasterIdLst>
    <p:notesMasterId xmlns:r="http://schemas.openxmlformats.org/officeDocument/2006/relationships" r:id="Rc4542409fe1d4fdc"/>
  </p:notesMasterIdLst>
  <p:sldIdLst>
    <p:sldId xmlns:r="http://schemas.openxmlformats.org/officeDocument/2006/relationships" id="256" r:id="R5674a2897a5c4ac9"/>
    <p:sldId xmlns:r="http://schemas.openxmlformats.org/officeDocument/2006/relationships" id="257" r:id="Rd728d0413a0c4fc8"/>
    <p:sldId xmlns:r="http://schemas.openxmlformats.org/officeDocument/2006/relationships" id="258" r:id="R54961e9466dd4936"/>
    <p:sldId xmlns:r="http://schemas.openxmlformats.org/officeDocument/2006/relationships" id="259" r:id="R4adc5896a1d1488f"/>
    <p:sldId xmlns:r="http://schemas.openxmlformats.org/officeDocument/2006/relationships" id="260" r:id="Rc6030d7f66ff4c30"/>
    <p:sldId xmlns:r="http://schemas.openxmlformats.org/officeDocument/2006/relationships" id="261" r:id="R3ff34d2d2ae54228"/>
    <p:sldId xmlns:r="http://schemas.openxmlformats.org/officeDocument/2006/relationships" id="262" r:id="R819d295e0c63409b"/>
    <p:sldId xmlns:r="http://schemas.openxmlformats.org/officeDocument/2006/relationships" id="263" r:id="Re04c2168905a4e5a"/>
    <p:sldId xmlns:r="http://schemas.openxmlformats.org/officeDocument/2006/relationships" id="264" r:id="Raf837016924f4b53"/>
    <p:sldId xmlns:r="http://schemas.openxmlformats.org/officeDocument/2006/relationships" id="265" r:id="R8cda7498c3b241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ec999799b7467a" /><Relationship Type="http://schemas.openxmlformats.org/officeDocument/2006/relationships/slideMaster" Target="/ppt/slideMasters/slideMaster1.xml" Id="Re983ccd94b5141c6" /><Relationship Type="http://schemas.openxmlformats.org/officeDocument/2006/relationships/notesMaster" Target="/ppt/notesMasters/notesMaster1.xml" Id="Rc4542409fe1d4fdc" /><Relationship Type="http://schemas.openxmlformats.org/officeDocument/2006/relationships/presProps" Target="/ppt/presProps.xml" Id="Re2a35f23b70b4d6a" /><Relationship Type="http://schemas.openxmlformats.org/officeDocument/2006/relationships/tableStyles" Target="/ppt/tableStyles.xml" Id="Rd5cca56f92a14dc2" /><Relationship Type="http://schemas.openxmlformats.org/officeDocument/2006/relationships/slide" Target="/ppt/slides/slide1.xml" Id="R5674a2897a5c4ac9" /><Relationship Type="http://schemas.openxmlformats.org/officeDocument/2006/relationships/slide" Target="/ppt/slides/slide2.xml" Id="Rd728d0413a0c4fc8" /><Relationship Type="http://schemas.openxmlformats.org/officeDocument/2006/relationships/slide" Target="/ppt/slides/slide3.xml" Id="R54961e9466dd4936" /><Relationship Type="http://schemas.openxmlformats.org/officeDocument/2006/relationships/slide" Target="/ppt/slides/slide4.xml" Id="R4adc5896a1d1488f" /><Relationship Type="http://schemas.openxmlformats.org/officeDocument/2006/relationships/slide" Target="/ppt/slides/slide5.xml" Id="Rc6030d7f66ff4c30" /><Relationship Type="http://schemas.openxmlformats.org/officeDocument/2006/relationships/slide" Target="/ppt/slides/slide6.xml" Id="R3ff34d2d2ae54228" /><Relationship Type="http://schemas.openxmlformats.org/officeDocument/2006/relationships/slide" Target="/ppt/slides/slide7.xml" Id="R819d295e0c63409b" /><Relationship Type="http://schemas.openxmlformats.org/officeDocument/2006/relationships/slide" Target="/ppt/slides/slide8.xml" Id="Re04c2168905a4e5a" /><Relationship Type="http://schemas.openxmlformats.org/officeDocument/2006/relationships/slide" Target="/ppt/slides/slide9.xml" Id="Raf837016924f4b53" /><Relationship Type="http://schemas.openxmlformats.org/officeDocument/2006/relationships/slide" Target="/ppt/slides/slide10.xml" Id="R8cda7498c3b241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372b8ea40341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e388b50805440f" /><Relationship Type="http://schemas.openxmlformats.org/officeDocument/2006/relationships/notesMaster" Target="/ppt/notesMasters/notesMaster1.xml" Id="R67ad9d81a74946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aec6f55bfa4e8b" /><Relationship Type="http://schemas.openxmlformats.org/officeDocument/2006/relationships/notesMaster" Target="/ppt/notesMasters/notesMaster1.xml" Id="Ree03e731c41d45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9b43a6cc1d4c28" /><Relationship Type="http://schemas.openxmlformats.org/officeDocument/2006/relationships/notesMaster" Target="/ppt/notesMasters/notesMaster1.xml" Id="Rb430d9929bf947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83a888b4b744e3" /><Relationship Type="http://schemas.openxmlformats.org/officeDocument/2006/relationships/notesMaster" Target="/ppt/notesMasters/notesMaster1.xml" Id="R9750d1be603c4c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76636bd82a4e2d" /><Relationship Type="http://schemas.openxmlformats.org/officeDocument/2006/relationships/notesMaster" Target="/ppt/notesMasters/notesMaster1.xml" Id="R107f625fb1644e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81baf751a141c3" /><Relationship Type="http://schemas.openxmlformats.org/officeDocument/2006/relationships/notesMaster" Target="/ppt/notesMasters/notesMaster1.xml" Id="R34449dd22a5845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8d7f7b368646e1" /><Relationship Type="http://schemas.openxmlformats.org/officeDocument/2006/relationships/notesMaster" Target="/ppt/notesMasters/notesMaster1.xml" Id="R5612081883fe4e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f084fd18c64616" /><Relationship Type="http://schemas.openxmlformats.org/officeDocument/2006/relationships/notesMaster" Target="/ppt/notesMasters/notesMaster1.xml" Id="Rbaadd62fc0344e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42abbd04bd4791" /><Relationship Type="http://schemas.openxmlformats.org/officeDocument/2006/relationships/notesMaster" Target="/ppt/notesMasters/notesMaster1.xml" Id="Rbccccb3d9d1e451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03af86580084a7e" /><Relationship Type="http://schemas.openxmlformats.org/officeDocument/2006/relationships/notesMaster" Target="/ppt/notesMasters/notesMaster1.xml" Id="Raebf4fa115a44e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구현된 MVP의 목적과 내부 활용 방법을 소개합니다. 실제 고객 수치가 없는 내용은 가설 또는 측정 계획으로 표시합니다.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문제 정의는 기능 목록이 아니라 업무 연결의 단절에 초점을 둡니다. 시스템은 불확실성을 숨기지 않고 다음 확인 과제로 관리합니다.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홈 화면에서 세 모듈로 진입합니다. 고객 분석과 재고관리 시스템은 동일한 customerId를 공유하고, Solution 제안이 두 결과를 합칩니다.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고객 접점 이전에는 회사소개서 기반 가설로 시작하고, 미팅 후에는 인터뷰 내용을 재고관리의 입력 필드로 연결합니다. 최종 목표는 제안서 근거와 PoC 범위입니다.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슬라이드의 흐름과 수식은 현재 inventory.mjs의 계산 구조를 설명합니다. 실제 고객 데이터가 연결되면 품목별 결과가 달라집니다.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표의 연결 관계는 meeting-mapping.mjs에 구현한 MVP 매핑을 기반으로 합니다. 실제 고객별 용어가 다르면 메모를 먼저 보존하고 표준 필드에 매핑합니다.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초기 단계에서 가장 중요한 것은 불확실성을 숨기지 않는 것입니다. 시스템은 missing data를 확인 필요, 표준 가설, 측정 계획으로 분리해 제안서 품질을 유지합니다.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ROI 항목은 재고자금, 업무시간, 결품·긴급대응 손실과 투자비를 분리해 설명합니다. 숫자가 없으면 KPI와 수집 계획만 제시합니다.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 예시는 미팅 전 회사소개서로 시작해 미팅 후 재고 데이터와 제안서로 연결하는 대표 흐름을 보여줍니다.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마무리에서는 MVP의 현재 범위와 다음 확장 방향을 구분합니다. 운영 서비스 전환에는 인증, 서버 저장, 데이터 연계가 필요합니다.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0281099e33459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bfdebcf69c4ec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f3f2b553ae44f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1f490052e942b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ba9813c27a4cf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d09c160d0b46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435B6FE-77F7-4D83-894F-194400F4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2D72B7D-D9D5-4C81-B317-F9EB5FAB33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A72CAAE-90AF-41E7-A6F4-5835FD9BD09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094D743-F7FD-4AF7-8787-CE4EA1F1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38E775D-2807-40CB-8AB1-A7AB21475D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C58BB0E-DA84-4759-9880-574BB9D6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8D7C3DB-BA5D-41DC-803B-480112A32E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B5AFD168-D238-47B3-AAE1-8A2DEA3B8F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5E2FE47-D347-49AF-A3CF-5E27BCE2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E20B6B5-693C-46BE-ACF4-10C7E49B7A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7C4302A-11C1-40C1-9390-08AB012AD8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C4FAAC9-5A24-41AF-B54E-2FC9DBE41D8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BB78339-9EEA-4D17-8A2F-66190AE3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052036E-8122-443B-B109-8134AF5555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7E1FEE-86FA-4B19-9446-222C945CE2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81e364ead84148" /><Relationship Type="http://schemas.openxmlformats.org/officeDocument/2006/relationships/slideLayout" Target="/ppt/slideLayouts/slideLayout1.xml" Id="R16d00221125645b2" /><Relationship Type="http://schemas.openxmlformats.org/officeDocument/2006/relationships/slideLayout" Target="/ppt/slideLayouts/slideLayout2.xml" Id="R2cbf764690974654" /><Relationship Type="http://schemas.openxmlformats.org/officeDocument/2006/relationships/slideLayout" Target="/ppt/slideLayouts/slideLayout3.xml" Id="Rdaf7b469129b4cae" /><Relationship Type="http://schemas.openxmlformats.org/officeDocument/2006/relationships/slideLayout" Target="/ppt/slideLayouts/slideLayout4.xml" Id="R31659179a9fc42d2" /><Relationship Type="http://schemas.openxmlformats.org/officeDocument/2006/relationships/slideLayout" Target="/ppt/slideLayouts/slideLayout5.xml" Id="R6fc9d66771684271" /><Relationship Type="http://schemas.openxmlformats.org/officeDocument/2006/relationships/slideLayout" Target="/ppt/slideLayouts/slideLayout6.xml" Id="Rf0526d61941f47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d00221125645b2"/>
    <p:sldLayoutId xmlns:r="http://schemas.openxmlformats.org/officeDocument/2006/relationships" id="2147483650" r:id="R2cbf764690974654"/>
    <p:sldLayoutId xmlns:r="http://schemas.openxmlformats.org/officeDocument/2006/relationships" id="2147483651" r:id="Rdaf7b469129b4cae"/>
    <p:sldLayoutId xmlns:r="http://schemas.openxmlformats.org/officeDocument/2006/relationships" id="2147483652" r:id="R31659179a9fc42d2"/>
    <p:sldLayoutId xmlns:r="http://schemas.openxmlformats.org/officeDocument/2006/relationships" id="2147483653" r:id="R6fc9d66771684271"/>
    <p:sldLayoutId xmlns:r="http://schemas.openxmlformats.org/officeDocument/2006/relationships" id="2147483654" r:id="Rf0526d61941f47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487945f7214b27" /><Relationship Type="http://schemas.openxmlformats.org/officeDocument/2006/relationships/notesSlide" Target="/ppt/notesSlides/notesSlide1.xml" Id="R80c72cf61dfd4c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1fa25d50834327" /><Relationship Type="http://schemas.openxmlformats.org/officeDocument/2006/relationships/notesSlide" Target="/ppt/notesSlides/notesSlide2.xml" Id="R8a2bfe51bfa74e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6fc42083ca4364" /><Relationship Type="http://schemas.openxmlformats.org/officeDocument/2006/relationships/notesSlide" Target="/ppt/notesSlides/notesSlide3.xml" Id="Re9fe7f5d3ead42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be61b6ce0e4ea5" /><Relationship Type="http://schemas.openxmlformats.org/officeDocument/2006/relationships/notesSlide" Target="/ppt/notesSlides/notesSlide4.xml" Id="R82c4aa57e4874a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601ac735134f32" /><Relationship Type="http://schemas.openxmlformats.org/officeDocument/2006/relationships/notesSlide" Target="/ppt/notesSlides/notesSlide5.xml" Id="R437c0a427f2446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c36eaf33ab4803" /><Relationship Type="http://schemas.openxmlformats.org/officeDocument/2006/relationships/notesSlide" Target="/ppt/notesSlides/notesSlide6.xml" Id="R2fea897ec3fa4d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10910006a74c52" /><Relationship Type="http://schemas.openxmlformats.org/officeDocument/2006/relationships/notesSlide" Target="/ppt/notesSlides/notesSlide7.xml" Id="R6adad48395f346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672d03a3cb4e5e" /><Relationship Type="http://schemas.openxmlformats.org/officeDocument/2006/relationships/notesSlide" Target="/ppt/notesSlides/notesSlide8.xml" Id="Rd24e0322d46a4e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1e8979a63043ca" /><Relationship Type="http://schemas.openxmlformats.org/officeDocument/2006/relationships/notesSlide" Target="/ppt/notesSlides/notesSlide9.xml" Id="R279e867b93c348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be83e8000640f7" /><Relationship Type="http://schemas.openxmlformats.org/officeDocument/2006/relationships/notesSlide" Target="/ppt/notesSlides/notesSlide10.xml" Id="R66dedc0336c545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5378D-EC00-47A9-8F0E-FA56C766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76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A6A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2D5F05-FADB-4482-B76C-77540A8C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9D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9D7FF"/>
                </a:solidFill>
                <a:latin typeface="Aptos"/>
                <a:ea typeface="Aptos"/>
                <a:cs typeface="Aptos"/>
              </a:rPr>
              <a:t>PLATFORM BS-LAB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B782C3-9664-4B73-BD3D-62EF667B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715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고객 분석에서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재고관리 솔루션 사업화까지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EA691-8EB5-4FC2-80E4-4F0EF138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E7F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7E7F7"/>
                </a:solidFill>
                <a:latin typeface="Aptos"/>
                <a:ea typeface="Aptos"/>
                <a:cs typeface="Aptos"/>
              </a:rPr>
              <a:t>신규 사업 담당자가 고객 가설을 만들고, 현장 정보를 구조화하며,</a:t>
            </a:r>
          </a:p>
          <a:p xmlns:a="http://schemas.openxmlformats.org/drawingml/2006/main">
            <a:pPr algn="l">
              <a:defRPr sz="1650" b="0">
                <a:solidFill>
                  <a:srgbClr val="D7E7F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7E7F7"/>
                </a:solidFill>
                <a:latin typeface="Aptos"/>
                <a:ea typeface="Aptos"/>
                <a:cs typeface="Aptos"/>
              </a:rPr>
              <a:t>제안서와 PoC 범위를 빠르게 만드는 사내 업무 도구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CA70FB-8707-466E-AD5D-B7EC39D1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47800"/>
            <a:ext cx="2381250" cy="33909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23458"/>
          </a:solidFill>
          <a:ln xmlns:a="http://schemas.openxmlformats.org/drawingml/2006/main" w="9525">
            <a:solidFill>
              <a:srgbClr val="2B5C8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BE7365-B207-4419-9FE6-D73FC678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288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9D7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D7FF"/>
                </a:solidFill>
                <a:latin typeface="Aptos"/>
                <a:ea typeface="Aptos"/>
                <a:cs typeface="Aptos"/>
              </a:rPr>
              <a:t>고객 자료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E7676E-6D42-4B72-8CFE-1C4F3B5E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479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A6A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A6A2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F83B0A-B371-4694-A81F-299E05D4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7241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9D7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D7FF"/>
                </a:solidFill>
                <a:latin typeface="Aptos"/>
                <a:ea typeface="Aptos"/>
                <a:cs typeface="Aptos"/>
              </a:rPr>
              <a:t>재고 데이터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90ABE-33EC-44AE-80C8-513E6689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A6A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A6A2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70F58B-EC25-4F05-8B45-569FD70B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6195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Solution 제안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B5A717-F277-4DD6-B7E2-2DFAED83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D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D7FF"/>
                </a:solidFill>
                <a:latin typeface="Aptos"/>
                <a:ea typeface="Aptos"/>
                <a:cs typeface="Aptos"/>
              </a:rPr>
              <a:t>내부 발표자료 · 2026</a:t>
            </a:r>
          </a:p>
        </p:txBody>
      </p:sp>
    </p:spTree>
    <p:extLst>
      <p:ext uri="{BB962C8B-B14F-4D97-AF65-F5344CB8AC3E}">
        <p14:creationId xmlns:p14="http://schemas.microsoft.com/office/powerpoint/2010/main" val="15553684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44370A-7C42-46D3-A8A3-233536E6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73D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73D9"/>
                </a:solidFill>
                <a:latin typeface="Aptos"/>
                <a:ea typeface="Aptos"/>
                <a:cs typeface="Aptos"/>
              </a:rPr>
              <a:t>01 / 배경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7F7ED1-122D-48DF-8764-0A027834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6"/>
                </a:solidFill>
                <a:latin typeface="Aptos"/>
                <a:ea typeface="Aptos"/>
                <a:cs typeface="Aptos"/>
              </a:rPr>
              <a:t>신규 사업개발 업무의 단절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36C00A-4203-46FF-8973-AF6AC398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고객을 만나기 전의 가설과 미팅 이후의 운영 데이터가 하나의 제안 흐름으로 이어져야 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5EF188-541C-459A-9BC7-2B87A245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C5A6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C5A63"/>
                </a:solidFill>
                <a:latin typeface="Aptos"/>
                <a:ea typeface="Aptos"/>
                <a:cs typeface="Aptos"/>
              </a:rPr>
              <a:t>현재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2ABC3D-8B2B-415D-A762-70294ECC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회사소개서·메모·Excel이 각각 남음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A32610-7DA9-463B-8737-FD274526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현장 업무를 파악해도 재고·생산·발주 관계를</a:t>
            </a:r>
          </a:p>
          <a:p xmlns:a="http://schemas.openxmlformats.org/drawingml/2006/main">
            <a:pPr algn="l">
              <a:defRPr sz="1425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제안서 구조로 옮기는 데 시간이 걸림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AA1807-D2D0-48B1-9B17-0A4592A6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52700"/>
            <a:ext cx="16192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F59E0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CF777-0F04-48D9-80FB-B83A92BD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90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전환 구간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4C23A3-AA26-49AA-8645-1368EC6D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038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3D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73D9"/>
                </a:solidFill>
                <a:latin typeface="Aptos"/>
                <a:ea typeface="Aptos"/>
                <a:cs typeface="Aptos"/>
              </a:rPr>
              <a:t>분석 가능한 구조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E5D115-FB27-4C4B-8D8B-81436A4A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4193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고객사별 자료 → 업무 가설 → 재고 흐름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752E12-ACD8-43B6-B406-DC17D2E4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9718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품목, 생산계획, BOM, 발주, 입고를 연결해</a:t>
            </a:r>
          </a:p>
          <a:p xmlns:a="http://schemas.openxmlformats.org/drawingml/2006/main">
            <a:pPr algn="l">
              <a:defRPr sz="1425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부족량·위험·PoC 근거를 한 화면에서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B3413E-B83F-46ED-8547-E2CA3640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81353D-251F-4F9C-B446-717DB714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6"/>
                </a:solidFill>
                <a:latin typeface="Aptos"/>
                <a:ea typeface="Aptos"/>
                <a:cs typeface="Aptos"/>
              </a:rPr>
              <a:t>핵심 설계 원칙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B5F5BE-1A55-4503-9919-F071621D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9105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수치가 없으면 억지로 ROI를 만들지 않고, 확인 질문·표준 To-Be·측정 계획으로 남긴다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329CE6-1458-438A-867A-24A3190F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BD2E4C-0AD0-4977-9949-E2E05183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Platform BS-LAB · 사내 신규 사업개발 업무도구 · MVP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1B6F25-79FA-43C7-9EE6-B0E3DA5B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F73D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3D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266369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B62A9A-75E3-4C07-8717-CCDC0932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73D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73D9"/>
                </a:solidFill>
                <a:latin typeface="Aptos"/>
                <a:ea typeface="Aptos"/>
                <a:cs typeface="Aptos"/>
              </a:rPr>
              <a:t>02 / 제품 개요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268722-04F9-424E-978D-0E3E60EA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6"/>
                </a:solidFill>
                <a:latin typeface="Aptos"/>
                <a:ea typeface="Aptos"/>
                <a:cs typeface="Aptos"/>
              </a:rPr>
              <a:t>하나의 프로젝트에서 고객 분석과 재고 솔루션을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854B38-F707-4738-80D1-27EE5CE7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프로젝트 안에 여러 고객사를 두고 고객사를 선택해 같은 분석 구조를 반복 사용할 수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BEA97C-9736-47FB-B21B-6412F028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28575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A53918-4BF4-4557-B62D-D3FD7117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9525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3D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FDF852-DFCE-430D-809F-6907DE38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098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F36"/>
                </a:solidFill>
                <a:latin typeface="Aptos"/>
                <a:ea typeface="Aptos"/>
                <a:cs typeface="Aptos"/>
              </a:rPr>
              <a:t>고객 분석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FD2592-0DF4-43B7-B322-BCA2BBB5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432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회사소개서·미팅 메모·</a:t>
            </a:r>
          </a:p>
          <a:p xmlns:a="http://schemas.openxmlformats.org/drawingml/2006/main">
            <a:pPr algn="l">
              <a:defRPr sz="1425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운영 자료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114C00-2B36-418F-939C-2EC633AE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289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73D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F73D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A11B93-CE64-41D5-ACC4-6BBB9D84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47900"/>
            <a:ext cx="28575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8F8F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5AC3C5-EA39-4026-885C-B39A88D8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47900"/>
            <a:ext cx="9525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A6A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CA4A74-3F5E-4B50-927C-CBB856EC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F36"/>
                </a:solidFill>
                <a:latin typeface="Aptos"/>
                <a:ea typeface="Aptos"/>
                <a:cs typeface="Aptos"/>
              </a:rPr>
              <a:t>재고관리 시스템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D221F2-703C-415F-A7E9-4D34947B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품목·거래·생산계획·</a:t>
            </a:r>
          </a:p>
          <a:p xmlns:a="http://schemas.openxmlformats.org/drawingml/2006/main">
            <a:pPr algn="l">
              <a:defRPr sz="1425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BOM·발주·입고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C25D68-F383-4E2B-B89F-12F8555F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289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73D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F73D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EB3242-C89F-41A8-B98F-996540B5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47900"/>
            <a:ext cx="28575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4D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CADF48-CACE-43C1-8B73-31D2F48F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47900"/>
            <a:ext cx="9525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6B99B1-E4CF-4719-B75D-68CF59B0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098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F36"/>
                </a:solidFill>
                <a:latin typeface="Aptos"/>
                <a:ea typeface="Aptos"/>
                <a:cs typeface="Aptos"/>
              </a:rPr>
              <a:t>Solution 제안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174AB7-63F2-4C14-A664-2BDBF370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432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As-Is·To-Be·ROI·</a:t>
            </a:r>
          </a:p>
          <a:p xmlns:a="http://schemas.openxmlformats.org/drawingml/2006/main">
            <a:pPr algn="l">
              <a:defRPr sz="1425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PoC 초안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F33940-2B1E-4452-A977-322BB692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3D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73D9"/>
                </a:solidFill>
                <a:latin typeface="Aptos"/>
                <a:ea typeface="Aptos"/>
                <a:cs typeface="Aptos"/>
              </a:rPr>
              <a:t>고객사 선택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68F1EE-1EBC-4885-9BA5-1F3C999E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244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53F"/>
                </a:solidFill>
                <a:latin typeface="Aptos"/>
                <a:ea typeface="Aptos"/>
                <a:cs typeface="Aptos"/>
              </a:rPr>
              <a:t>동일한 화면 구조를 유지하면서 고객별 자료·재고·제안 결과를 분리 관리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63F99E-4594-4FF7-B7BC-7F270C17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07A9D5-CAFD-4BD5-8161-BA9FE0B7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Platform BS-LAB · 사내 신규 사업개발 업무도구 · MVP 기준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334E28-3A37-4BB1-9E24-EE20F0A1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F73D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3D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835444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5B514F-4D30-49DF-986F-018730FD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73D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73D9"/>
                </a:solidFill>
                <a:latin typeface="Aptos"/>
                <a:ea typeface="Aptos"/>
                <a:cs typeface="Aptos"/>
              </a:rPr>
              <a:t>03 / 사용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9A866-843A-49BA-B69D-88EEFB40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6"/>
                </a:solidFill>
                <a:latin typeface="Aptos"/>
                <a:ea typeface="Aptos"/>
                <a:cs typeface="Aptos"/>
              </a:rPr>
              <a:t>고객 정보가 제안 근거로 바뀌는 과정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2AFDBA-272C-4C14-9E72-FACD657F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미팅 전 자료와 미팅 후 운영 데이터를 단계적으로 추가해도 흐름이 끊기지 않습니다.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306146-AD10-4B3F-A964-2FF79816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173355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E5615D-A73A-432E-9DA5-803DAA45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3D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73D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B20248-99B6-40EA-BC1F-7D70A340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36"/>
                </a:solidFill>
                <a:latin typeface="Aptos"/>
                <a:ea typeface="Aptos"/>
                <a:cs typeface="Aptos"/>
              </a:rPr>
              <a:t>자료 입력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C79CD1-5A7E-41F5-A55F-8BEF4777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회사소개서</a:t>
            </a:r>
          </a:p>
          <a:p xmlns:a="http://schemas.openxmlformats.org/drawingml/2006/main">
            <a:pPr algn="l">
              <a:defRPr sz="1350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기본 정보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0ABF10-CFC3-4415-9486-8C9A40D5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718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A6A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A6A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DDC7EF-1F35-42DD-8BB8-45567FCD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05050"/>
            <a:ext cx="173355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649AA7-978F-41C0-B308-95CA8EF4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9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3D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73D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18178A-E5C2-4467-A156-0EF1EAB8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956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36"/>
                </a:solidFill>
                <a:latin typeface="Aptos"/>
                <a:ea typeface="Aptos"/>
                <a:cs typeface="Aptos"/>
              </a:rPr>
              <a:t>가설 정리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B266A2-3826-445A-AB40-222E2C39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5280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업종·Pain Point</a:t>
            </a:r>
          </a:p>
          <a:p xmlns:a="http://schemas.openxmlformats.org/drawingml/2006/main">
            <a:pPr algn="l">
              <a:defRPr sz="1350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확인 질문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4D3FF5-1047-48AF-B54D-AF21D65B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718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A6A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A6A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3BA503-0C16-420C-BB3E-240703A5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05050"/>
            <a:ext cx="173355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E965B2-2A60-48A3-92A6-BF6696D5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9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3D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73D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BA0B1C-726D-4594-B158-E5F1DBF2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956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36"/>
                </a:solidFill>
                <a:latin typeface="Aptos"/>
                <a:ea typeface="Aptos"/>
                <a:cs typeface="Aptos"/>
              </a:rPr>
              <a:t>현장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B04C29-BD63-492F-8B57-E1766541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5280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미팅 메모 →</a:t>
            </a:r>
          </a:p>
          <a:p xmlns:a="http://schemas.openxmlformats.org/drawingml/2006/main">
            <a:pPr algn="l">
              <a:defRPr sz="1350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재고 입력 항목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5162A9-F710-4C17-82D7-5B50528C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718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A6A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A6A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4DE68A-439A-45F5-99E0-F6DC7C97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05050"/>
            <a:ext cx="173355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05BEEE-3E1C-4A2D-9C2C-E734E522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9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3D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73D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0455D9-F98B-4B2B-9D1C-3E1273FA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956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36"/>
                </a:solidFill>
                <a:latin typeface="Aptos"/>
                <a:ea typeface="Aptos"/>
                <a:cs typeface="Aptos"/>
              </a:rPr>
              <a:t>자동 계산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E92CE8-D506-40C4-A204-70F84A17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5280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현재고·소요량</a:t>
            </a:r>
          </a:p>
          <a:p xmlns:a="http://schemas.openxmlformats.org/drawingml/2006/main">
            <a:pPr algn="l">
              <a:defRPr sz="1350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순부족·위험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259352-9BEB-4C3B-9697-F6D9A3D2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718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A6A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A6A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668646-1B5A-45F4-A77A-FC5E5A29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05050"/>
            <a:ext cx="173355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A66FCB-1EB7-42BD-94E1-747BE095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9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3D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73D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117D3E-8735-49B2-B3D2-A6504A5B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956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36"/>
                </a:solidFill>
                <a:latin typeface="Aptos"/>
                <a:ea typeface="Aptos"/>
                <a:cs typeface="Aptos"/>
              </a:rPr>
              <a:t>제안 완성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15D3C3-4967-473C-8C4F-F139BBCD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5280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To-Be·ROI</a:t>
            </a:r>
          </a:p>
          <a:p xmlns:a="http://schemas.openxmlformats.org/drawingml/2006/main">
            <a:pPr algn="l">
              <a:defRPr sz="1350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PoC 범위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EEFEA5-73BF-46C7-951F-171C3DAA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핵심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B88E13-8D30-4633-889F-C2EFC50D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815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자료가 늘어날수록 분석의 확신도가 올라가고, 부족한 부분은 다음 미팅 질문으로 남습니다.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90CF8B-07EE-469B-A21B-6405D86E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E3884D-B3D7-41EA-B3F9-0763143B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Platform BS-LAB · 사내 신규 사업개발 업무도구 · MVP 기준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9BA56E-9585-427F-A079-77F86D19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F73D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3D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075321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7781CB-D347-498A-86F0-92E59EE7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73D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73D9"/>
                </a:solidFill>
                <a:latin typeface="Aptos"/>
                <a:ea typeface="Aptos"/>
                <a:cs typeface="Aptos"/>
              </a:rPr>
              <a:t>04 / 재고관리 모델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D5C21A-D707-416F-8636-0C133AFD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6"/>
                </a:solidFill>
                <a:latin typeface="Aptos"/>
                <a:ea typeface="Aptos"/>
                <a:cs typeface="Aptos"/>
              </a:rPr>
              <a:t>재고·생산·발주 흐름을 하나의 계산 구조로 관리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0B9D27-AFC2-49FC-BDBC-E9095692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운영 데이터의 최소 단위를 직접 입력하면 고객별 계산 결과와 리스크를 확인할 수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9C43B3-AC62-4315-9A66-4FD48A29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90500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7A13B3-B614-4A66-9EE9-DBB4242C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76200" cy="1219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3D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6FAF2C-86BE-439D-A17C-B54AEB61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336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6"/>
                </a:solidFill>
                <a:latin typeface="Aptos"/>
                <a:ea typeface="Aptos"/>
                <a:cs typeface="Aptos"/>
              </a:rPr>
              <a:t>생산계획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968E72-2D3B-4F2D-ABF7-376511A1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146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무엇을</a:t>
            </a:r>
          </a:p>
          <a:p xmlns:a="http://schemas.openxmlformats.org/drawingml/2006/main">
            <a:pPr algn="l">
              <a:defRPr sz="1275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언제 만들까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6B7074-9328-4B17-9C6B-4A314CC4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05050"/>
            <a:ext cx="190500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8F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7BCBFE-5D46-4E30-9A34-7C4E638C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05050"/>
            <a:ext cx="76200" cy="1219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A6A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E81A96-ABD1-4FFA-B02E-185CEF1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336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6"/>
                </a:solidFill>
                <a:latin typeface="Aptos"/>
                <a:ea typeface="Aptos"/>
                <a:cs typeface="Aptos"/>
              </a:rPr>
              <a:t>BOM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6422DF-AF9A-4ED0-8293-84C5E223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146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완제품 1개에</a:t>
            </a:r>
          </a:p>
          <a:p xmlns:a="http://schemas.openxmlformats.org/drawingml/2006/main">
            <a:pPr algn="l">
              <a:defRPr sz="1275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필요한 자재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6D58FB-F22F-4E39-98B9-66C1CA22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05050"/>
            <a:ext cx="190500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4D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CFA4A6-2934-46DE-83EB-630EAFB0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05050"/>
            <a:ext cx="76200" cy="1219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B4EAAA-27B4-46E2-B989-096837FD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336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6"/>
                </a:solidFill>
                <a:latin typeface="Aptos"/>
                <a:ea typeface="Aptos"/>
                <a:cs typeface="Aptos"/>
              </a:rPr>
              <a:t>현재고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97B3B6-7D2A-46C5-90C6-532DE642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146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실제 보유량</a:t>
            </a:r>
          </a:p>
          <a:p xmlns:a="http://schemas.openxmlformats.org/drawingml/2006/main">
            <a:pPr algn="l">
              <a:defRPr sz="1275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입고·출고·조정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8F1BF8-79C1-4ECF-957E-2F64550C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05050"/>
            <a:ext cx="190500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DEBE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7A83A0-EFF4-44A3-A11E-EB06125D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05050"/>
            <a:ext cx="76200" cy="1219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5A6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D112ED-1467-4EF9-B85A-64C04AEE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336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6"/>
                </a:solidFill>
                <a:latin typeface="Aptos"/>
                <a:ea typeface="Aptos"/>
                <a:cs typeface="Aptos"/>
              </a:rPr>
              <a:t>발주·입고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3D42F7-A638-4B44-8A54-31B27A12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146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언제 들어오나</a:t>
            </a:r>
          </a:p>
          <a:p xmlns:a="http://schemas.openxmlformats.org/drawingml/2006/main">
            <a:pPr algn="l">
              <a:defRPr sz="1275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얼마나 남았나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557AB1-B664-4C8C-9416-5F4DB407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622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73D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73D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AF62AE-6A12-47E9-9115-21164D48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73D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73D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3AD3DB-8C99-4DC6-A5CE-C6E5EF56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622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73D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73D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62D0D4-671C-432D-BF42-5A0DE33F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38600"/>
            <a:ext cx="78105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6BB0F3-4381-4AC7-95BE-75286364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3D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3D9"/>
                </a:solidFill>
                <a:latin typeface="Aptos"/>
                <a:ea typeface="Aptos"/>
                <a:cs typeface="Aptos"/>
              </a:rPr>
              <a:t>자동 계산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3D1EA0-4A9F-466C-9551-87DDE8C2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36"/>
                </a:solidFill>
                <a:latin typeface="Aptos"/>
                <a:ea typeface="Aptos"/>
                <a:cs typeface="Aptos"/>
              </a:rPr>
              <a:t>현재고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88013B-7F46-4D21-833E-D35E262C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14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53F"/>
                </a:solidFill>
                <a:latin typeface="Aptos"/>
                <a:ea typeface="Aptos"/>
                <a:cs typeface="Aptos"/>
              </a:rPr>
              <a:t>기초재고 + 입고 - 출고 ± 조정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3EA36B-DD8A-4628-ABD9-C45B87EF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149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36"/>
                </a:solidFill>
                <a:latin typeface="Aptos"/>
                <a:ea typeface="Aptos"/>
                <a:cs typeface="Aptos"/>
              </a:rPr>
              <a:t>순부족량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4DDDF6-9BB4-402B-8D9C-7FCCF919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149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53F"/>
                </a:solidFill>
                <a:latin typeface="Aptos"/>
                <a:ea typeface="Aptos"/>
                <a:cs typeface="Aptos"/>
              </a:rPr>
              <a:t>max(0, 소요량 + 안전재고 - 현재고 - 발주잔량)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59E9F8-DB2B-40A9-B55D-09BD2701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257163-52F5-4C17-914A-0BADC5F1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Platform BS-LAB · 사내 신규 사업개발 업무도구 · MVP 기준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54CE8F-1E17-4A41-BFCF-92CBAF1C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F73D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3D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19211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AFBDDD-004E-4A03-A06F-72127FDA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73D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73D9"/>
                </a:solidFill>
                <a:latin typeface="Aptos"/>
                <a:ea typeface="Aptos"/>
                <a:cs typeface="Aptos"/>
              </a:rPr>
              <a:t>05 / 미팅 정보 연결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9BBBA0-D734-4D5B-AF0C-28D006CA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6"/>
                </a:solidFill>
                <a:latin typeface="Aptos"/>
                <a:ea typeface="Aptos"/>
                <a:cs typeface="Aptos"/>
              </a:rPr>
              <a:t>현장 표현을 시스템 입력 항목으로 번역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CB47DE-D0C0-4D61-9172-B8BEF861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이 연결 가이드가 신규 고객 미팅에서 무엇을 물어보고 무엇을 입력할지 결정하는 기준이 됩니다.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04850" y="2057400"/>
          <a:ext xmlns:a="http://schemas.openxmlformats.org/drawingml/2006/main" cx="1078230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429000"/>
                <a:gridCol w="2857500"/>
                <a:gridCol w="4495800"/>
              </a:tblGrid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미팅에서 들은 내용</a:t>
                      </a:r>
                    </a:p>
                  </a:txBody>
                  <a:tcPr marL="91440" marR="91440" marT="45720" marB="45720">
                    <a:solidFill>
                      <a:srgbClr val="0B1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시스템 대상</a:t>
                      </a:r>
                    </a:p>
                  </a:txBody>
                  <a:tcPr marL="91440" marR="91440" marT="45720" marB="45720">
                    <a:solidFill>
                      <a:srgbClr val="0B1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제안서에서 보이는 근거</a:t>
                      </a:r>
                    </a:p>
                  </a:txBody>
                  <a:tcPr marL="91440" marR="91440" marT="45720" marB="45720">
                    <a:solidFill>
                      <a:srgbClr val="0B1F3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53F"/>
                          </a:solidFill>
                        </a:rPr>
                        <a:t>입고·출고를 수기로 기록하거나 Excel로 관리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53F"/>
                          </a:solidFill>
                        </a:rPr>
                        <a:t>재고거래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53F"/>
                          </a:solidFill>
                        </a:rPr>
                        <a:t>재고 정확도와 입력 업무 개선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53F"/>
                          </a:solidFill>
                        </a:rPr>
                        <a:t>생산계획이 바뀌면 자재 부족을 다시 확인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53F"/>
                          </a:solidFill>
                        </a:rPr>
                        <a:t>생산계획 + BOM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53F"/>
                          </a:solidFill>
                        </a:rPr>
                        <a:t>생산계획 기반 자재소요량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53F"/>
                          </a:solidFill>
                        </a:rPr>
                        <a:t>발주했지만 언제 들어오는지 불명확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53F"/>
                          </a:solidFill>
                        </a:rPr>
                        <a:t>공급사 발주 + 입고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53F"/>
                          </a:solidFill>
                        </a:rPr>
                        <a:t>발주잔량·납기 위험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53F"/>
                          </a:solidFill>
                        </a:rPr>
                        <a:t>재고 수량과 현장 수량이 자주 다름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53F"/>
                          </a:solidFill>
                        </a:rPr>
                        <a:t>거래 이력 + 조정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53F"/>
                          </a:solidFill>
                        </a:rPr>
                        <a:t>재고 정확도 KPI와 PoC 기준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53F"/>
                          </a:solidFill>
                        </a:rPr>
                        <a:t>결품이나 긴급 발주가 발생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53F"/>
                          </a:solidFill>
                        </a:rPr>
                        <a:t>안전재고·리드타임·단가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53F"/>
                          </a:solidFill>
                        </a:rPr>
                        <a:t>ROI 산정 입력값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0F6381-0CC1-41AD-A95C-3790E4F5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78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미팅 메모를 저장하면 Solution 화면의 연결 가이드에서 위 대상 항목을 다시 확인할 수 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AE358-CC09-4F24-A127-21D71EE5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0A2F5-3319-40EF-B732-5A8173E2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Platform BS-LAB · 사내 신규 사업개발 업무도구 · MVP 기준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5D55FD-798A-4C34-821E-9135FD5E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F73D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3D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851092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AC696F-7697-4615-BE8B-6A8E6A3F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73D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73D9"/>
                </a:solidFill>
                <a:latin typeface="Aptos"/>
                <a:ea typeface="Aptos"/>
                <a:cs typeface="Aptos"/>
              </a:rPr>
              <a:t>06 / 제안서 완성 전략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B30C19-41AF-4E92-A136-09C978B1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6"/>
                </a:solidFill>
                <a:latin typeface="Aptos"/>
                <a:ea typeface="Aptos"/>
                <a:cs typeface="Aptos"/>
              </a:rPr>
              <a:t>As-Is·To-Be·ROI가 부족해도 다음 행동을 남긴다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056DD-101A-4978-8FD7-C85E4FC1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초기 고객 대화에서 확정되지 않은 내용을 사실처럼 쓰지 않고, 확인 대상과 측정 계획을 제안서에 포함합니다.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781050" y="2095500"/>
          <a:ext xmlns:a="http://schemas.openxmlformats.org/drawingml/2006/main" cx="106299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286000"/>
                <a:gridCol w="4381500"/>
                <a:gridCol w="3962400"/>
              </a:tblGrid>
              <a:tr h="5715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확보 상태</a:t>
                      </a:r>
                    </a:p>
                  </a:txBody>
                  <a:tcPr marL="91440" marR="91440" marT="45720" marB="45720">
                    <a:solidFill>
                      <a:srgbClr val="0B1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화면에서 제시할 내용</a:t>
                      </a:r>
                    </a:p>
                  </a:txBody>
                  <a:tcPr marL="91440" marR="91440" marT="45720" marB="45720">
                    <a:solidFill>
                      <a:srgbClr val="0B1F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다음 확보 방법</a:t>
                      </a:r>
                    </a:p>
                  </a:txBody>
                  <a:tcPr marL="91440" marR="91440" marT="45720" marB="45720">
                    <a:solidFill>
                      <a:srgbClr val="0B1F3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53F"/>
                          </a:solidFill>
                        </a:rPr>
                        <a:t>As-Is 부족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53F"/>
                          </a:solidFill>
                        </a:rPr>
                        <a:t>표준 재고 흐름 + 확인 질문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53F"/>
                          </a:solidFill>
                        </a:rPr>
                        <a:t>담당자·시스템·수기 구간 인터뷰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53F"/>
                          </a:solidFill>
                        </a:rPr>
                        <a:t>To-Be 부족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53F"/>
                          </a:solidFill>
                        </a:rPr>
                        <a:t>플랫폼 적용 후보 범위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53F"/>
                          </a:solidFill>
                        </a:rPr>
                        <a:t>품목·거래·생산계획을 작은 범위로 입력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53F"/>
                          </a:solidFill>
                        </a:rPr>
                        <a:t>ROI 부족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53F"/>
                          </a:solidFill>
                        </a:rPr>
                        <a:t>측정해야 할 KPI와 계산식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53F"/>
                          </a:solidFill>
                        </a:rPr>
                        <a:t>재고금액·시간·결품 비용 수집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53F"/>
                          </a:solidFill>
                        </a:rPr>
                        <a:t>PoC 부족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53F"/>
                          </a:solidFill>
                        </a:rPr>
                        <a:t>4~8주 검증 초안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53F"/>
                          </a:solidFill>
                        </a:rPr>
                        <a:t>대상 품목·성공 기준·데이터 주기 합의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3E6418-4381-445E-ACAA-3BBBBBF1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10629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8E524B-C588-4062-82B4-84536EBC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245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3D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73D9"/>
                </a:solidFill>
                <a:latin typeface="Aptos"/>
                <a:ea typeface="Aptos"/>
                <a:cs typeface="Aptos"/>
              </a:rPr>
              <a:t>완성도 기준: ‘모든 내용을 채움’보다 ‘다음 의사결정이 가능함’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E82D78-0315-4BC3-B73A-DC2C8BCD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81DB1B-3601-4EF3-A4C2-F668C4BD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Platform BS-LAB · 사내 신규 사업개발 업무도구 · MVP 기준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AC5A50-D196-4D8A-ABB2-E44D0BD9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F73D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3D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153244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FB8309-65DF-4C9A-8604-A5836450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73D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73D9"/>
                </a:solidFill>
                <a:latin typeface="Aptos"/>
                <a:ea typeface="Aptos"/>
                <a:cs typeface="Aptos"/>
              </a:rPr>
              <a:t>07 / 사업 가치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BA462D-A91B-4D41-A04E-1843BC15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6"/>
                </a:solidFill>
                <a:latin typeface="Aptos"/>
                <a:ea typeface="Aptos"/>
                <a:cs typeface="Aptos"/>
              </a:rPr>
              <a:t>효과를 추정하고, PoC에서 실제 값을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028E10-BF04-4ACA-ADD8-A6C62537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현재 MVP는 금액을 임의로 만들지 않고 고객이 제공한 입력과 측정 가능한 KPI를 기준으로 ROI를 계산합니다.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33103F-F445-4D29-8DA2-8455B659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6"/>
                </a:solidFill>
                <a:latin typeface="Aptos"/>
                <a:ea typeface="Aptos"/>
                <a:cs typeface="Aptos"/>
              </a:rPr>
              <a:t>연간 기대효과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7D584-C1BD-4CF1-809C-41EE37B5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재고자금 절감</a:t>
            </a:r>
          </a:p>
          <a:p xmlns:a="http://schemas.openxmlformats.org/drawingml/2006/main">
            <a:pPr algn="l">
              <a:defRPr sz="16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+ 업무시간 절감</a:t>
            </a:r>
          </a:p>
          <a:p xmlns:a="http://schemas.openxmlformats.org/drawingml/2006/main">
            <a:pPr algn="l">
              <a:defRPr sz="16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+ 결품·긴급대응 손실 감소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CD17D3-71A9-47F4-B897-5C950E50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670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C83AC1-35C1-4CC5-9E69-17105201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098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6"/>
                </a:solidFill>
                <a:latin typeface="Aptos"/>
                <a:ea typeface="Aptos"/>
                <a:cs typeface="Aptos"/>
              </a:rPr>
              <a:t>총투자비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BB1D4B-08F0-4F99-9E8E-9B05EC90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86050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도입비</a:t>
            </a:r>
          </a:p>
          <a:p xmlns:a="http://schemas.openxmlformats.org/drawingml/2006/main">
            <a:pPr algn="l">
              <a:defRPr sz="16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+ 운영비</a:t>
            </a:r>
          </a:p>
          <a:p xmlns:a="http://schemas.openxmlformats.org/drawingml/2006/main">
            <a:pPr algn="l">
              <a:defRPr sz="16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+ 연동·변경 비용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C5119-E65F-4D7D-B95C-7C049AE9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670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A6A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A6A2"/>
                </a:solidFill>
                <a:latin typeface="Aptos"/>
                <a:ea typeface="Aptos"/>
                <a:cs typeface="Aptos"/>
              </a:rPr>
              <a:t>=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583AA-517F-44F9-A014-8993A0D5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95500"/>
            <a:ext cx="2667000" cy="1962150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0B1F3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730EB4-65F7-4A24-AAA8-AFBBF106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003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A9D7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A9D7FF"/>
                </a:solidFill>
                <a:latin typeface="Aptos"/>
                <a:ea typeface="Aptos"/>
                <a:cs typeface="Aptos"/>
              </a:rPr>
              <a:t>ROI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8C1110-B1D8-464A-877C-EFD56449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670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순효과 / 총투자비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B9541F-B228-45E8-84E7-0968BD77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0100"/>
            <a:ext cx="107823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ED652F-D02E-4A6C-B560-4532BB6C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0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3D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F73D9"/>
                </a:solidFill>
                <a:latin typeface="Aptos"/>
                <a:ea typeface="Aptos"/>
                <a:cs typeface="Aptos"/>
              </a:rPr>
              <a:t>PoC에서 측정할 KPI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CFEB8E-B778-46D9-8CEC-D43B639F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720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53F"/>
                </a:solidFill>
                <a:latin typeface="Aptos"/>
                <a:ea typeface="Aptos"/>
                <a:cs typeface="Aptos"/>
              </a:rPr>
              <a:t>재고 정확도 · 부족 알림 대응시간 · 긴급발주 횟수 · 재고회전일 · 수기 입력시간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6567E3-60E7-4FC6-B02F-B72DC6B5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251B6B-69B9-4A81-84FE-7AF90C47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Platform BS-LAB · 사내 신규 사업개발 업무도구 · MVP 기준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5B591E-72F7-4CE8-8DB4-71B80481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F73D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3D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011725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382872-FF0B-4CF5-B13B-468F219C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73D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73D9"/>
                </a:solidFill>
                <a:latin typeface="Aptos"/>
                <a:ea typeface="Aptos"/>
                <a:cs typeface="Aptos"/>
              </a:rPr>
              <a:t>08 / 사용 예시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534117-05B0-4310-B492-96F637DA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6"/>
                </a:solidFill>
                <a:latin typeface="Aptos"/>
                <a:ea typeface="Aptos"/>
                <a:cs typeface="Aptos"/>
              </a:rPr>
              <a:t>첫 고객 미팅을 기준으로 한 실제 활용 장면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0DA2C-2147-41F8-AB54-95C7B8B4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신규 사업 담당자는 고객 자료를 넣는 순간부터 다음 미팅과 제안서의 빈칸을 확인할 수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861DA-136A-4A0D-A5B7-52D7C194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2266950" cy="228600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78515D-254D-4F2E-B7D6-0FF8AC0D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57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3D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73D9"/>
                </a:solidFill>
                <a:latin typeface="Aptos"/>
                <a:ea typeface="Aptos"/>
                <a:cs typeface="Aptos"/>
              </a:rPr>
              <a:t>미팅 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8C26D1-A6E8-44B9-8676-D9877E9D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718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36"/>
                </a:solidFill>
                <a:latin typeface="Aptos"/>
                <a:ea typeface="Aptos"/>
                <a:cs typeface="Aptos"/>
              </a:rPr>
              <a:t>회사소개서 등록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FCBD69-325B-4B2D-9ABE-E31D94B8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업종·업무 가설과</a:t>
            </a:r>
          </a:p>
          <a:p xmlns:a="http://schemas.openxmlformats.org/drawingml/2006/main">
            <a:pPr algn="l">
              <a:defRPr sz="1350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확인 질문 생성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E02D09-BE08-4C45-B036-49012A2C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1432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A6A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A6A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7E21AE-8BA5-4931-A7D1-B39A01CE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09800"/>
            <a:ext cx="2266950" cy="228600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4074EF-98CA-4228-A6D7-C6EBE7F7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57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3D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73D9"/>
                </a:solidFill>
                <a:latin typeface="Aptos"/>
                <a:ea typeface="Aptos"/>
                <a:cs typeface="Aptos"/>
              </a:rPr>
              <a:t>미팅 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36AC54-2719-4BBF-962A-907729A9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718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36"/>
                </a:solidFill>
                <a:latin typeface="Aptos"/>
                <a:ea typeface="Aptos"/>
                <a:cs typeface="Aptos"/>
              </a:rPr>
              <a:t>현장 메모 입력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728641-FF17-4808-BECA-0FB072B6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385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‘수기 입고’, ‘생산 변경’</a:t>
            </a:r>
          </a:p>
          <a:p xmlns:a="http://schemas.openxmlformats.org/drawingml/2006/main">
            <a:pPr algn="l">
              <a:defRPr sz="1350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같은 표현 기록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3E562B-1E85-4155-A539-4243C4D6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432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A6A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A6A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20DEF1-0EEC-4D75-9C7B-5EC9FF0B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09800"/>
            <a:ext cx="2266950" cy="228600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586D13-1252-4FEF-A348-DBD282B6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57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3D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73D9"/>
                </a:solidFill>
                <a:latin typeface="Aptos"/>
                <a:ea typeface="Aptos"/>
                <a:cs typeface="Aptos"/>
              </a:rPr>
              <a:t>미팅 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D2AB2E-D095-4A33-8FE6-8101DDAD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718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36"/>
                </a:solidFill>
                <a:latin typeface="Aptos"/>
                <a:ea typeface="Aptos"/>
                <a:cs typeface="Aptos"/>
              </a:rPr>
              <a:t>재고 항목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2320A2-67EB-46B1-85B7-D6C2AAFB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385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거래·생산계획·BOM</a:t>
            </a:r>
          </a:p>
          <a:p xmlns:a="http://schemas.openxmlformats.org/drawingml/2006/main">
            <a:pPr algn="l">
              <a:defRPr sz="1350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입력 대상으로 변환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89A51C-CFDF-40F1-B302-E6C660F2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A6A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A6A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73C74F-F8CC-4651-A808-7C71B612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09800"/>
            <a:ext cx="2266950" cy="228600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FFF4D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CAB5FD-EE2C-4C94-8D24-469583FE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57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제안 준비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DEF4C9-916E-47FB-A2DB-33E0DFA3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718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36"/>
                </a:solidFill>
                <a:latin typeface="Aptos"/>
                <a:ea typeface="Aptos"/>
                <a:cs typeface="Aptos"/>
              </a:rPr>
              <a:t>계산 결과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5EBB0C-8EF9-4C6B-96D3-D67FA8F5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6385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부족 자재·발주 위험과</a:t>
            </a:r>
          </a:p>
          <a:p xmlns:a="http://schemas.openxmlformats.org/drawingml/2006/main">
            <a:pPr algn="l">
              <a:defRPr sz="1350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PoC 범위 정리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BBA1C0-11DF-44E9-B0C7-9CBE31E4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F36"/>
                </a:solidFill>
                <a:latin typeface="Aptos"/>
                <a:ea typeface="Aptos"/>
                <a:cs typeface="Aptos"/>
              </a:rPr>
              <a:t>담당자의 산출물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FFC7CC-2DDA-4DF2-BEE4-617DAD3A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4350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53F"/>
                </a:solidFill>
                <a:latin typeface="Aptos"/>
                <a:ea typeface="Aptos"/>
                <a:cs typeface="Aptos"/>
              </a:rPr>
              <a:t>고객별 분석 요약 · 재고 흐름 구조 · 측정 가능한 ROI 가설 · PoC 초안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729F5A-A8BA-47DC-B0C9-41681ED9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444D55-F19D-457B-A2F6-247C9721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71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7185"/>
                </a:solidFill>
                <a:latin typeface="Aptos"/>
                <a:ea typeface="Aptos"/>
                <a:cs typeface="Aptos"/>
              </a:rPr>
              <a:t>Platform BS-LAB · 사내 신규 사업개발 업무도구 · MVP 기준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A20AD9-B748-4107-AD87-584D0105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F73D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3D9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391478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F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187003-5CD1-41BE-9101-B499FB78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D7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9D7FF"/>
                </a:solidFill>
                <a:latin typeface="Aptos"/>
                <a:ea typeface="Aptos"/>
                <a:cs typeface="Aptos"/>
              </a:rPr>
              <a:t>09 / 다음 단계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127EEA-1275-406F-8CBC-76373DE6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내부 업무도구에서 고객 적용 플랫폼으로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423A0E-9E6D-4B5C-9993-DBC7CC03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E7F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7E7F7"/>
                </a:solidFill>
                <a:latin typeface="Aptos"/>
                <a:ea typeface="Aptos"/>
                <a:cs typeface="Aptos"/>
              </a:rPr>
              <a:t>현재 MVP의 핵심은 고객 가설과 재고관리 구조를 연결하는 것입니다.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3CA921-F3C7-4A07-BCC9-2769169F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28575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123458"/>
          </a:solidFill>
          <a:ln xmlns:a="http://schemas.openxmlformats.org/drawingml/2006/main" w="9525">
            <a:solidFill>
              <a:srgbClr val="2B5C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9431E8-B489-4AD1-B1F9-709E94D7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2857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A6A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621741-9EE3-4428-8350-48EFB379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99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A6A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A6A2"/>
                </a:solidFill>
                <a:latin typeface="Aptos"/>
                <a:ea typeface="Aptos"/>
                <a:cs typeface="Aptos"/>
              </a:rPr>
              <a:t>현재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301638-9855-488B-8CBD-7D21F7F6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고객 분석 + 재고 계산 +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Solution 제안 초안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4A70F7-D5D8-4602-A008-84359B44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333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A6A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A6A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53E752-F8A4-4834-8549-E9C1A4D0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47950"/>
            <a:ext cx="28575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123458"/>
          </a:solidFill>
          <a:ln xmlns:a="http://schemas.openxmlformats.org/drawingml/2006/main" w="9525">
            <a:solidFill>
              <a:srgbClr val="2B5C8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B28AA3-B246-44B7-BDF1-14EAFA98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47950"/>
            <a:ext cx="2857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3D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ABE3B2-629B-47E8-974A-77BE0935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099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3D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73D9"/>
                </a:solidFill>
                <a:latin typeface="Aptos"/>
                <a:ea typeface="Aptos"/>
                <a:cs typeface="Aptos"/>
              </a:rPr>
              <a:t>다음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451689-0B38-41B0-9B3C-FA129C59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242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인증·권한·서버 저장 +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Excel 가져오기·내보내기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47E38D-09C1-41C5-8B59-6A375C9C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33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A6A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A6A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24E9DD-59F1-40E6-B886-EA67A1E9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47950"/>
            <a:ext cx="28575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123458"/>
          </a:solidFill>
          <a:ln xmlns:a="http://schemas.openxmlformats.org/drawingml/2006/main" w="9525">
            <a:solidFill>
              <a:srgbClr val="2B5C8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3E923F-D04B-48DF-9422-951A301F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47950"/>
            <a:ext cx="2857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6E86C2-20DC-4081-B88A-F0726657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099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확장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254959-517B-4F89-8CD4-20631E4C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242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ERP·MES·WMS 연계 +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바코드·RFID·실적 ROI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A9BF8B-B1FC-4DF2-A283-52759118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9D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9D7FF"/>
                </a:solidFill>
                <a:latin typeface="Aptos"/>
                <a:ea typeface="Aptos"/>
                <a:cs typeface="Aptos"/>
              </a:rPr>
              <a:t>권장 운영 방식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F78E05-CD8B-4A39-AFF4-38FFA619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816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한 고객을 선정해 미팅 메모 → 재고 입력 → PoC → ROI 검증의 전체 흐름을 반복하고 표준 질문과 필드를 다듬습니다.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A54974-992E-4C6B-BB63-23108BD5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D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D7FF"/>
                </a:solidFill>
                <a:latin typeface="Aptos"/>
                <a:ea typeface="Aptos"/>
                <a:cs typeface="Aptos"/>
              </a:rPr>
              <a:t>Platform BS-LAB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35EF94-78C0-4CBD-958D-0C453193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D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9D7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967384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2026-09-29T06:16:10.0560000Z</dcterms:created>
  <dcterms:modified xsi:type="dcterms:W3CDTF">2026-09-29T06:16:10.0560000Z</dcterms:modified>
</coreProperties>
</file>